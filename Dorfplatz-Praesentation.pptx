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7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Der Dorfplatz ist eine gemeinsame Plattform für Asch, initiiert von der Gruppe Lebenswert. Kern der Idee: informieren, helfen, zusammenhalten — freiwillig, respektvoll, quelloffen.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Beobachtungen aus dem Dorfalltag. Wichtig: Es geht nicht um ein technisches Problem, sondern um Sichtbarkeit. Das meiste ist schon da — es findet nur nicht zueinander.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eigentliche Ziel in einem Satz. Die drei Säulen sind bewusst niedrigschwellig. Der Satz unten ist wörtlich aus der Startseite der Anwendung und beschreibt die erwartete Umgangsform.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wichtigste Erwartungsklärung. Bewusst früh im Vortrag, damit niemand mit falschen Annahmen weiterhört. Kernsatz: Wir bauen keine Konkurrenz zu Messengern, Verkaufsportalen oder Vereinssoftware — wir bauen etwas, das daneben 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funktionale Überblick. Wichtig zu betonen: Nachrichten sind kein eigener Bereich zum Plaudern, sondern der Anschluss an die drei anderen Bereiche.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Events sind der einzige Bereich mit Vorabmoderation. Grund: Termine gelten als offizielle Dorfinformation. Die Ablehnung erfordert eine Begründung, damit der Vorgang nachvollziehbar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ohne Moderation: Diese Bereiche sind Alltagsgeschäft und würden bei Vorabprüfung schlicht einschlafen. Missbrauch wird nachträglich über die Mitgliederverwaltung geregelt, nicht vorbeugend über Formulare.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ist die Detailauflösung der Abgrenzungsfolie. Der Zweckbindungsgedanke ist auch datenschutzrechtlich relevant: Es werden keine Kommunikationsdaten über das hinaus gesammelt, was für einen konkreten Austausch nötig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Dorfplatz ist kein offenes Netz: Ein neues Konto sieht zunächst nichts. Das ist die wichtigste Vertrauensmaßnahme. Rollen bauen aufeinander auf. Sperren sind reversibel und immer begründet.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Ehrlicher Punkt für die Diskussion: Technisch sind Auskunft, Export und Löschung umgesetzt. Organisatorisch fehlen noch die Angaben zur verantwortlichen Stelle und die Entscheidung über Aufbewahrungsfristen.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das technische Publikum. Kernpunkt: kein CORS, weil der Browser dieselbe Herkunft nutzt; die Rollenprüfung passiert immer serverseitig. Bilder gehen direkt zum Speicher, nicht durch die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Betriebsaufwand ist bei einem ehrenamtlichen Projekt entscheidend. Die pfadbezogene Aufteilung hält Laufzeiten und Risiko klein: Eine Textänderung im Frontend fasst die Datenbank nicht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Fortschrittsbericht. Zwei Änderungen sind inhaltlich wichtig: ausgeblendete Erstellernamen und die klarere Beschreibung der Nachrichtenfunktion — beides folgt direkt aus der Abgrenzung.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und Aufruf. Die drei Wege sind bewusst unterschiedlich anspruchsvoll — jede und jeder findet einen. Der letzte Satz wiederholt die Abgrenzung noch einmal, damit sie hängen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914400"/>
            <a:ext cx="5120640" cy="5120640"/>
          </a:xfrm>
          <a:prstGeom prst="ellipse">
            <a:avLst/>
          </a:prstGeom>
          <a:solidFill>
            <a:srgbClr val="008B93">
              <a:alpha val="22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9235440" y="2834640"/>
            <a:ext cx="3840480" cy="3840480"/>
          </a:xfrm>
          <a:prstGeom prst="ellipse">
            <a:avLst/>
          </a:prstGeom>
          <a:solidFill>
            <a:srgbClr val="5F7F2D">
              <a:alpha val="28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Shape 2"/>
          <p:cNvSpPr/>
          <p:nvPr/>
        </p:nvSpPr>
        <p:spPr>
          <a:xfrm>
            <a:off x="6949440" y="2194560"/>
            <a:ext cx="2377440" cy="2377440"/>
          </a:xfrm>
          <a:prstGeom prst="ellipse">
            <a:avLst/>
          </a:prstGeom>
          <a:solidFill>
            <a:srgbClr val="008B93">
              <a:alpha val="14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868680" y="1143000"/>
            <a:ext cx="841248" cy="84124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817" y="1370137"/>
            <a:ext cx="386974" cy="3869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kern="0" spc="260" dirty="0">
                <a:solidFill>
                  <a:srgbClr val="A9D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GEMEINSCHAFTSPROJEKT · ASCH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651760"/>
            <a:ext cx="6766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Dorfplatz</a:t>
            </a:r>
            <a:endParaRPr lang="en-US" sz="6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8862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digitale Treffpunkt für unser Dorf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805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DF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Informieren · Helfen · Zusammenhalten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943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A9D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Initiiert von der Gruppe Lebenswert  ·  Open Source  ·  Stand: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brauchen wir einen Dorfplatz?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93338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024128" y="2103120"/>
            <a:ext cx="658368" cy="65836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1887" y="2280879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2962656"/>
            <a:ext cx="26252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Informationen verstreuen sich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3675888"/>
            <a:ext cx="26252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Aushänge, Zettel im Briefkasten, Gespräche am Gartenzaun: Wer nicht zufällig zur richtigen Zeit am richtigen Ort ist, bekommt vieles gar nicht mit.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99178" y="1783080"/>
            <a:ext cx="3393338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4783226" y="2103120"/>
            <a:ext cx="658368" cy="65836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986" y="2280879"/>
            <a:ext cx="302849" cy="3028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83226" y="2962656"/>
            <a:ext cx="26252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Hilfe bleibt unsichtbar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783226" y="3675888"/>
            <a:ext cx="26252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Dorf gibt es viel Können und viel Bedarf. Nur finden beide Seiten heute selten zueinander — oft fehlt einfach ein Ort, an dem man fragen kann.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58277" y="1783080"/>
            <a:ext cx="3393338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1"/>
          <p:cNvSpPr/>
          <p:nvPr/>
        </p:nvSpPr>
        <p:spPr>
          <a:xfrm>
            <a:off x="8542325" y="2103120"/>
            <a:ext cx="658368" cy="65836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0084" y="2280879"/>
            <a:ext cx="302849" cy="3028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42325" y="2962656"/>
            <a:ext cx="26252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Brauchbares landet im Müll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542325" y="3675888"/>
            <a:ext cx="26252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Möbel, Werkzeug, Kinderkleidung: Dinge verschwinden, obwohl sie zwei Straßen weiter noch gute Dienste leisten würden.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5138928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EDF3DF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0" name="Text 15"/>
          <p:cNvSpPr txBox="1"/>
          <p:nvPr/>
        </p:nvSpPr>
        <p:spPr>
          <a:xfrm>
            <a:off x="1097280" y="5138928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466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gemeinsamer Ort macht sichtbar, was ohnehin schon da ist: Wissen, Hilfsbereitschaft und Dinge in der Nachbarschaft.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ZIEL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Leben in unserem Dorf verbessern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Dorfplatz soll ein verlässlicher und vertrauensvoller Raum sein, der unser Dorf stärkt, Angebote sichtbar macht und die Versorgung und Zusammenarbeit vor Ort verbessert.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3393338" cy="2240280"/>
          </a:xfrm>
          <a:prstGeom prst="roundRect">
            <a:avLst>
              <a:gd name="adj" fmla="val 4082"/>
            </a:avLst>
          </a:prstGeom>
          <a:solidFill>
            <a:srgbClr val="DFF2F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1024128" y="3127248"/>
            <a:ext cx="566928" cy="56692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199" y="3280319"/>
            <a:ext cx="260787" cy="2607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00784" y="3127248"/>
            <a:ext cx="1948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Informieren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950208"/>
            <a:ext cx="2625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im Dorf passiert, steht an einem Ort — von der Gemeindeinfo bis zum Vereinsfest.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99178" y="2788920"/>
            <a:ext cx="3393338" cy="2240280"/>
          </a:xfrm>
          <a:prstGeom prst="roundRect">
            <a:avLst>
              <a:gd name="adj" fmla="val 4082"/>
            </a:avLst>
          </a:prstGeom>
          <a:solidFill>
            <a:srgbClr val="EDF3DF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4783226" y="3127248"/>
            <a:ext cx="566928" cy="56692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6297" y="328031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59882" y="3127248"/>
            <a:ext cx="1948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Helfen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783226" y="3950208"/>
            <a:ext cx="2625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anbieten oder Unterstützung suchen — vom Rasenmähen bis </a:t>
            </a:r>
            <a:r>
              <a:rPr lang="en-US" sz="1350" dirty="0" err="1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</a:t>
            </a: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Mitfahrgelegenheit</a:t>
            </a: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58277" y="2788920"/>
            <a:ext cx="3393338" cy="2240280"/>
          </a:xfrm>
          <a:prstGeom prst="roundRect">
            <a:avLst>
              <a:gd name="adj" fmla="val 4082"/>
            </a:avLst>
          </a:prstGeom>
          <a:solidFill>
            <a:srgbClr val="DFF2F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Shape 12"/>
          <p:cNvSpPr/>
          <p:nvPr/>
        </p:nvSpPr>
        <p:spPr>
          <a:xfrm>
            <a:off x="8542325" y="3127248"/>
            <a:ext cx="566928" cy="56692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5395" y="3280319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18981" y="3127248"/>
            <a:ext cx="19485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Zusammenhalten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542325" y="3950208"/>
            <a:ext cx="2625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respektvoller, wertschätzender Umgang ist die Grundlage. Das gilt für jede Nachricht.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32180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466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„Bitte begegnet einander respektvoll, freundlich und fair.“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57424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kern="0" spc="14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Grundsatz des Dorfplatzes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463040"/>
            <a:ext cx="4023360" cy="4023360"/>
          </a:xfrm>
          <a:prstGeom prst="ellipse">
            <a:avLst/>
          </a:prstGeom>
          <a:solidFill>
            <a:srgbClr val="008B93">
              <a:alpha val="16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A9D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ABGRENZUNG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Dorfplatz ausdrücklich nicht ist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393338" cy="3154680"/>
          </a:xfrm>
          <a:prstGeom prst="roundRect">
            <a:avLst>
              <a:gd name="adj" fmla="val 2899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1024128" y="2103120"/>
            <a:ext cx="640080" cy="64008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950" y="2275942"/>
            <a:ext cx="294437" cy="2944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4128" y="2926080"/>
            <a:ext cx="2625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Ersatz für WhatsApp oder Signal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712464"/>
            <a:ext cx="26252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8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Nachrichtenfunktion dient nur konkreten Absprachen zu einer Anzeige — nicht dem Austausch im Alltag.</a:t>
            </a:r>
            <a:endParaRPr lang="en-US" sz="1280" dirty="0"/>
          </a:p>
        </p:txBody>
      </p:sp>
      <p:sp>
        <p:nvSpPr>
          <p:cNvPr id="10" name="Shape 7"/>
          <p:cNvSpPr/>
          <p:nvPr/>
        </p:nvSpPr>
        <p:spPr>
          <a:xfrm>
            <a:off x="4399178" y="1783080"/>
            <a:ext cx="3393338" cy="3154680"/>
          </a:xfrm>
          <a:prstGeom prst="roundRect">
            <a:avLst>
              <a:gd name="adj" fmla="val 2899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4783226" y="2103120"/>
            <a:ext cx="640080" cy="64008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2275942"/>
            <a:ext cx="294437" cy="2944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83226" y="2926080"/>
            <a:ext cx="2625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Ersatz für Kleinanzeigen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783226" y="3712464"/>
            <a:ext cx="26252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8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Marktplatz ist für die Nachbarschaft in Asch — ohne große Reichweite, Versand oder Bezahlfunktion.</a:t>
            </a:r>
            <a:endParaRPr lang="en-US" sz="1280" dirty="0"/>
          </a:p>
        </p:txBody>
      </p:sp>
      <p:sp>
        <p:nvSpPr>
          <p:cNvPr id="15" name="Shape 11"/>
          <p:cNvSpPr/>
          <p:nvPr/>
        </p:nvSpPr>
        <p:spPr>
          <a:xfrm>
            <a:off x="8158277" y="1783080"/>
            <a:ext cx="3393338" cy="3154680"/>
          </a:xfrm>
          <a:prstGeom prst="roundRect">
            <a:avLst>
              <a:gd name="adj" fmla="val 2899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Shape 12"/>
          <p:cNvSpPr/>
          <p:nvPr/>
        </p:nvSpPr>
        <p:spPr>
          <a:xfrm>
            <a:off x="8542325" y="2103120"/>
            <a:ext cx="640080" cy="64008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146" y="2275942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42325" y="2926080"/>
            <a:ext cx="2625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Ersatz für Vereinsverwaltung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542325" y="3712464"/>
            <a:ext cx="26252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8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Mitgliederlisten, Beiträge und interne Termine bleiben in den Vereinen. Hier steht nur, was alle angeht.</a:t>
            </a:r>
            <a:endParaRPr lang="en-US" sz="1280" dirty="0"/>
          </a:p>
        </p:txBody>
      </p:sp>
      <p:sp>
        <p:nvSpPr>
          <p:cNvPr id="20" name="Shape 15"/>
          <p:cNvSpPr/>
          <p:nvPr/>
        </p:nvSpPr>
        <p:spPr>
          <a:xfrm>
            <a:off x="640080" y="5230368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1" name="Text 16"/>
          <p:cNvSpPr txBox="1"/>
          <p:nvPr/>
        </p:nvSpPr>
        <p:spPr>
          <a:xfrm>
            <a:off x="1097280" y="5230368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Dorfplatz ergänzt, was es schon gibt — er ersetzt es nicht.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Bereiche auf einer Plattform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0028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051560" y="2167128"/>
            <a:ext cx="658368" cy="65836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319" y="2344887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83664" y="2240280"/>
            <a:ext cx="360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&amp; Neuigkeiten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990088"/>
            <a:ext cx="44270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Vereinsfeste, Gemeindeinfos, Treffen und Ankündigungen aus dem Ort — in Kartenform oder als Monatskalender.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1588" y="1783080"/>
            <a:ext cx="5250028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6713068" y="2167128"/>
            <a:ext cx="658368" cy="65836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827" y="2344887"/>
            <a:ext cx="302849" cy="3028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5172" y="2240280"/>
            <a:ext cx="360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Dienstleistungen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6713068" y="2990088"/>
            <a:ext cx="44270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suche“ oder „ich biete“: Nachbarschaftshilfe sichtbar machen und wieder schließen, wenn erledigt.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3977640"/>
            <a:ext cx="5250028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1"/>
          <p:cNvSpPr/>
          <p:nvPr/>
        </p:nvSpPr>
        <p:spPr>
          <a:xfrm>
            <a:off x="1051560" y="4361688"/>
            <a:ext cx="658368" cy="65836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19" y="4539447"/>
            <a:ext cx="302849" cy="3028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883664" y="4434840"/>
            <a:ext cx="360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Marktplatz</a:t>
            </a:r>
            <a:endParaRPr lang="en-US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1051560" y="5184648"/>
            <a:ext cx="44270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Dinge aus der Nachbarschaft kaufen, verkaufen oder verschenken — mit Bildern, Zustand und Preis.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1588" y="3977640"/>
            <a:ext cx="5250028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0" name="Shape 15"/>
          <p:cNvSpPr/>
          <p:nvPr/>
        </p:nvSpPr>
        <p:spPr>
          <a:xfrm>
            <a:off x="6713068" y="4361688"/>
            <a:ext cx="658368" cy="65836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0827" y="4539447"/>
            <a:ext cx="302849" cy="3028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5172" y="4434840"/>
            <a:ext cx="360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Nachrichten</a:t>
            </a:r>
            <a:endParaRPr lang="en-US" sz="2100" dirty="0"/>
          </a:p>
        </p:txBody>
      </p:sp>
      <p:sp>
        <p:nvSpPr>
          <p:cNvPr id="23" name="Text 17"/>
          <p:cNvSpPr txBox="1"/>
          <p:nvPr/>
        </p:nvSpPr>
        <p:spPr>
          <a:xfrm>
            <a:off x="6713068" y="5184648"/>
            <a:ext cx="44270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Kontaktdaten und Einzelheiten direkt mit einem Mitglied klären — zweckgebunden zu einer Anzeige.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614476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Bereiche sind nur für freigegebene Mitglieder aus dem Dorf sichtbar.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BEREICH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&amp; Neuigkeiten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760720" cy="411480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024128" y="2057400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074" y="2220346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21031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Mitglieder einstellen können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2880360"/>
            <a:ext cx="5029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2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Vereinsfeste, Sitzungen, Gottesdienste und Ankündigungen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2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Kategorien: Verwaltung, Vereine, Kirchen, Stadt, Sonstiges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2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Karten- oder Monatsansicht — die Auswahl bleibt gespeichert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2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als ICS-Datei in den eigenen Kalender übernehmen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2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Vergangene Termine werden automatisch ausgeblendet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812280" y="1737360"/>
            <a:ext cx="4745736" cy="4114800"/>
          </a:xfrm>
          <a:prstGeom prst="roundRect">
            <a:avLst>
              <a:gd name="adj" fmla="val 2222"/>
            </a:avLst>
          </a:prstGeom>
          <a:solidFill>
            <a:srgbClr val="DFF2F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Text 7"/>
          <p:cNvSpPr txBox="1"/>
          <p:nvPr/>
        </p:nvSpPr>
        <p:spPr>
          <a:xfrm>
            <a:off x="7196328" y="2057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kern="0" spc="20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BEITRAG WIRD GEPRÜFT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196328" y="2514600"/>
            <a:ext cx="548640" cy="548640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2" name="Text 9"/>
          <p:cNvSpPr txBox="1"/>
          <p:nvPr/>
        </p:nvSpPr>
        <p:spPr>
          <a:xfrm>
            <a:off x="719632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936992" y="24963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Einreichen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36992" y="28072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Mitglied schlägt einen Termin vor.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96328" y="3520440"/>
            <a:ext cx="548640" cy="548640"/>
          </a:xfrm>
          <a:prstGeom prst="ellipse">
            <a:avLst/>
          </a:prstGeom>
          <a:solidFill>
            <a:srgbClr val="00636A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3"/>
          <p:cNvSpPr txBox="1"/>
          <p:nvPr/>
        </p:nvSpPr>
        <p:spPr>
          <a:xfrm>
            <a:off x="7196328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7936992" y="3502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936992" y="3813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gibt frei oder lehnt mit Begründung ab.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196328" y="4526280"/>
            <a:ext cx="548640" cy="548640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0" name="Text 17"/>
          <p:cNvSpPr txBox="1"/>
          <p:nvPr/>
        </p:nvSpPr>
        <p:spPr>
          <a:xfrm>
            <a:off x="7196328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936992" y="45079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Veröffentlicht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936992" y="48188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Termin erscheint für alle Mitglieder.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196328" y="5394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schützt vor Werbung und Falschinformation — nicht vor unbequemen Themen.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BEREICH 2 UND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Dienstleistungen &amp; Marktplatz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00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051560" y="2084832"/>
            <a:ext cx="658368" cy="65836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319" y="2262591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83664" y="2139696"/>
            <a:ext cx="3604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Dienstleistungen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883664" y="2651760"/>
            <a:ext cx="360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Nachbarschaftshilfe sichtbar machen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154680"/>
            <a:ext cx="44270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suche“ — Unterstützung im Alltag anfragen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biete“ — eigene Hilfe oder Fähigkeiten anbieten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lassen sich bearbeiten, schließen oder löschen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Vorabprüfung — das Dorf regelt das untereinander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1588" y="1737360"/>
            <a:ext cx="52500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6713068" y="2084832"/>
            <a:ext cx="658368" cy="65836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827" y="2262591"/>
            <a:ext cx="302849" cy="3028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45172" y="2139696"/>
            <a:ext cx="3604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Marktplatz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7545172" y="2651760"/>
            <a:ext cx="360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Dinge im Dorf weitergeben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713068" y="3154680"/>
            <a:ext cx="44270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Kaufen, verkaufen oder verschenken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Beschreibung, Preis, Zustand, Kategorie und Ort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Bilder werden privat gespeichert und nur Mitgliedern gezeigt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8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Anzeige als verkauft markieren oder zurückziehen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5715000"/>
            <a:ext cx="10911535" cy="594360"/>
          </a:xfrm>
          <a:prstGeom prst="roundRect">
            <a:avLst>
              <a:gd name="adj" fmla="val 15385"/>
            </a:avLst>
          </a:prstGeom>
          <a:solidFill>
            <a:srgbClr val="EDF3DF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7" name="Text 13"/>
          <p:cNvSpPr txBox="1"/>
          <p:nvPr/>
        </p:nvSpPr>
        <p:spPr>
          <a:xfrm>
            <a:off x="1097280" y="571500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466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Bereiche leben von kurzen Wegen: Wer antwortet, wohnt meistens im selben Ort.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BEREICH 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Nachrichten — bewusst zweckgebunden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Unterhaltung startet immer aus einer konkreten Anzeige heraus. Sie dient dazu, Kontaktdaten und die praktischen Einzelheiten für genau diesen Austausch zu klären.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5250028" cy="2788920"/>
          </a:xfrm>
          <a:prstGeom prst="roundRect">
            <a:avLst>
              <a:gd name="adj" fmla="val 3279"/>
            </a:avLst>
          </a:prstGeom>
          <a:solidFill>
            <a:srgbClr val="EDF3DF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1051560" y="2743200"/>
            <a:ext cx="566928" cy="56692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631" y="2896271"/>
            <a:ext cx="260787" cy="2607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73936" y="2770632"/>
            <a:ext cx="3695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466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Dafür ist die Funktion da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474720"/>
            <a:ext cx="44270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2000"/>
              </a:spcAft>
              <a:buSzPct val="100000"/>
              <a:buChar char="•"/>
            </a:pPr>
            <a:r>
              <a:rPr lang="en-US" sz="140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„Passt Samstag 10 Uhr zum Abholen?“</a:t>
            </a:r>
            <a:endParaRPr lang="en-US" sz="1400" dirty="0"/>
          </a:p>
          <a:p>
            <a:pPr marL="177800" indent="-177800">
              <a:lnSpc>
                <a:spcPct val="112000"/>
              </a:lnSpc>
              <a:spcAft>
                <a:spcPts val="2000"/>
              </a:spcAft>
              <a:buSzPct val="100000"/>
              <a:buChar char="•"/>
            </a:pPr>
            <a:r>
              <a:rPr lang="en-US" sz="140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„Meine Telefonnummer ist …“</a:t>
            </a:r>
            <a:endParaRPr lang="en-US" sz="1400" dirty="0"/>
          </a:p>
          <a:p>
            <a:pPr marL="177800" indent="-177800">
              <a:lnSpc>
                <a:spcPct val="112000"/>
              </a:lnSpc>
              <a:spcAft>
                <a:spcPts val="2000"/>
              </a:spcAft>
              <a:buSzPct val="100000"/>
              <a:buChar char="•"/>
            </a:pPr>
            <a:r>
              <a:rPr lang="en-US" sz="140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„Ist der Anhänger noch verfügbar?“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1588" y="2423160"/>
            <a:ext cx="5250028" cy="2788920"/>
          </a:xfrm>
          <a:prstGeom prst="roundRect">
            <a:avLst>
              <a:gd name="adj" fmla="val 3279"/>
            </a:avLst>
          </a:prstGeom>
          <a:solidFill>
            <a:srgbClr val="FBE6E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6713068" y="2743200"/>
            <a:ext cx="566928" cy="566928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138" y="2896271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35444" y="2770632"/>
            <a:ext cx="3695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Dafür ausdrücklich nicht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713068" y="3474720"/>
            <a:ext cx="44270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2000"/>
              </a:spcAft>
              <a:buSzPct val="100000"/>
              <a:buChar char="•"/>
            </a:pPr>
            <a:r>
              <a:rPr lang="en-US" sz="140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Gruppenchats und Dorftratsch</a:t>
            </a:r>
            <a:endParaRPr lang="en-US" sz="1400" dirty="0"/>
          </a:p>
          <a:p>
            <a:pPr marL="177800" indent="-177800">
              <a:lnSpc>
                <a:spcPct val="112000"/>
              </a:lnSpc>
              <a:spcAft>
                <a:spcPts val="2000"/>
              </a:spcAft>
              <a:buSzPct val="100000"/>
              <a:buChar char="•"/>
            </a:pPr>
            <a:r>
              <a:rPr lang="en-US" sz="140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Tägliche private Unterhaltungen</a:t>
            </a:r>
            <a:endParaRPr lang="en-US" sz="1400" dirty="0"/>
          </a:p>
          <a:p>
            <a:pPr marL="177800" indent="-177800">
              <a:lnSpc>
                <a:spcPct val="112000"/>
              </a:lnSpc>
              <a:spcAft>
                <a:spcPts val="2000"/>
              </a:spcAft>
              <a:buSzPct val="100000"/>
              <a:buChar char="•"/>
            </a:pPr>
            <a:r>
              <a:rPr lang="en-US" sz="140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Alles, wofür WhatsApp oder Signal da sind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2"/>
          <p:cNvSpPr txBox="1"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Deshalb sind Namen von Erstellern für normale Mitglieder ausgeblendet — der Kontakt entsteht über die Anzeige, nicht über ein Verzeichnis.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darf was — und wie kommt man rein?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381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960120" y="1965960"/>
            <a:ext cx="548640" cy="548640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53" y="2114093"/>
            <a:ext cx="252374" cy="2523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47672"/>
            <a:ext cx="2097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Anmelden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86000"/>
            <a:ext cx="2097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Microsoft- oder Google-Konto anmelden.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3938" y="1691640"/>
            <a:ext cx="342381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4703978" y="1965960"/>
            <a:ext cx="548640" cy="548640"/>
          </a:xfrm>
          <a:prstGeom prst="ellipse">
            <a:avLst/>
          </a:prstGeom>
          <a:solidFill>
            <a:srgbClr val="00636A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111" y="21140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89778" y="1947672"/>
            <a:ext cx="2097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Freigabe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5389778" y="2286000"/>
            <a:ext cx="2097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Zugang bleibt zunächst gesperrt.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27797" y="1691640"/>
            <a:ext cx="342381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5" name="Shape 11"/>
          <p:cNvSpPr/>
          <p:nvPr/>
        </p:nvSpPr>
        <p:spPr>
          <a:xfrm>
            <a:off x="8447837" y="1965960"/>
            <a:ext cx="548640" cy="548640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970" y="21140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33637" y="1947672"/>
            <a:ext cx="2097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Freigegeben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9133637" y="2286000"/>
            <a:ext cx="2097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Administration lässt das Konto auf den Dorfplatz.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33375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ROLLEN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365760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EDF3DF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1" name="Text 16"/>
          <p:cNvSpPr txBox="1"/>
          <p:nvPr/>
        </p:nvSpPr>
        <p:spPr>
          <a:xfrm>
            <a:off x="1024128" y="3931920"/>
            <a:ext cx="26557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466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Mitglied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1024128" y="4434840"/>
            <a:ext cx="26557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ansehen, in allen Bereichen etwas einstellen und Nachrichten schreiben.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4383938" y="365760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DFF2F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4" name="Text 19"/>
          <p:cNvSpPr txBox="1"/>
          <p:nvPr/>
        </p:nvSpPr>
        <p:spPr>
          <a:xfrm>
            <a:off x="4767986" y="3931920"/>
            <a:ext cx="26557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063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Moderation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4767986" y="4434840"/>
            <a:ext cx="26557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Zusätzlich: Termine prüfen, freigeben oder mit Begründung ablehnen.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127797" y="365760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7" name="Text 22"/>
          <p:cNvSpPr txBox="1"/>
          <p:nvPr/>
        </p:nvSpPr>
        <p:spPr>
          <a:xfrm>
            <a:off x="8511845" y="3931920"/>
            <a:ext cx="26557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8511845" y="4434840"/>
            <a:ext cx="26557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Zusätzlich: Zugänge freigeben, sperren und wiederherstellen, Rollen vergeben.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30" name="Shape 25"/>
          <p:cNvSpPr/>
          <p:nvPr/>
        </p:nvSpPr>
        <p:spPr>
          <a:xfrm>
            <a:off x="1005840" y="5742432"/>
            <a:ext cx="457200" cy="457200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5865876"/>
            <a:ext cx="210312" cy="210312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645920" y="5577840"/>
            <a:ext cx="94484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Sperre oder Wiederherstellung braucht immer eine Begründung. Sie wird protokolliert und dem betroffenen Mitglied angezeigt.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DATENSCHUTZ &amp; RECHT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eigenen Daten bleiben in der eigenen Hand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487854" cy="2971800"/>
          </a:xfrm>
          <a:prstGeom prst="roundRect">
            <a:avLst>
              <a:gd name="adj" fmla="val 3675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960120" y="2029968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066" y="2192914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2834640"/>
            <a:ext cx="1847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 exportieren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547872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eigenen Inhalte lassen sich jederzeit als JSON-Datei herunterladen.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47974" y="1737360"/>
            <a:ext cx="2487854" cy="2971800"/>
          </a:xfrm>
          <a:prstGeom prst="roundRect">
            <a:avLst>
              <a:gd name="adj" fmla="val 3675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3768014" y="2029968"/>
            <a:ext cx="603504" cy="60350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0960" y="2192914"/>
            <a:ext cx="277612" cy="2776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68014" y="2834640"/>
            <a:ext cx="1847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Konto löschen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768014" y="3547872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Profil wird anonymisiert, Anzeigen und Bilder entfernt, Nachrichten entwertet.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55868" y="1737360"/>
            <a:ext cx="2487854" cy="2971800"/>
          </a:xfrm>
          <a:prstGeom prst="roundRect">
            <a:avLst>
              <a:gd name="adj" fmla="val 3675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5" name="Shape 11"/>
          <p:cNvSpPr/>
          <p:nvPr/>
        </p:nvSpPr>
        <p:spPr>
          <a:xfrm>
            <a:off x="6575908" y="2029968"/>
            <a:ext cx="603504" cy="603504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854" y="2192914"/>
            <a:ext cx="277612" cy="2776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75908" y="2834640"/>
            <a:ext cx="1847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Einwilligung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575908" y="3547872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Zustimmung wird dokumentiert; der Anzeigename ist jederzeit änderbar.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063761" y="1737360"/>
            <a:ext cx="2487854" cy="2971800"/>
          </a:xfrm>
          <a:prstGeom prst="roundRect">
            <a:avLst>
              <a:gd name="adj" fmla="val 3675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0" name="Shape 15"/>
          <p:cNvSpPr/>
          <p:nvPr/>
        </p:nvSpPr>
        <p:spPr>
          <a:xfrm>
            <a:off x="9383801" y="2029968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747" y="2192914"/>
            <a:ext cx="277612" cy="2776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83801" y="2834640"/>
            <a:ext cx="18477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Impressum &amp; Datenschutz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383801" y="3547872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Impressum (§ 5 DDG) und Datenschutzerklärung sind im Footer jeder Seite verlinkt.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40080" y="502920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DFF2F1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Shape 19"/>
          <p:cNvSpPr/>
          <p:nvPr/>
        </p:nvSpPr>
        <p:spPr>
          <a:xfrm>
            <a:off x="1051560" y="5349240"/>
            <a:ext cx="566928" cy="566928"/>
          </a:xfrm>
          <a:prstGeom prst="ellipse">
            <a:avLst/>
          </a:prstGeom>
          <a:solidFill>
            <a:srgbClr val="00636A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4631" y="5502311"/>
            <a:ext cx="260787" cy="26078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828800" y="52760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zu erledigen vor dem echten Start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828800" y="562356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DSGVO-Umsetzung ist eine technische Hilfe, keine Rechtsberatung. Verantwortliche Stelle und Aufbewahrungsfristen müssen vor dem Produktivbetrieb konkret festgelegt werden.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der Dorfplatz gebaut ist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13809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407376" y="1993392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322" y="2156338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" y="2743200"/>
            <a:ext cx="184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3108960"/>
            <a:ext cx="184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Vite und TypeScript</a:t>
            </a:r>
            <a:endParaRPr lang="en-US" sz="1180" dirty="0"/>
          </a:p>
        </p:txBody>
      </p:sp>
      <p:sp>
        <p:nvSpPr>
          <p:cNvPr id="9" name="Shape 6"/>
          <p:cNvSpPr/>
          <p:nvPr/>
        </p:nvSpPr>
        <p:spPr>
          <a:xfrm>
            <a:off x="2979344" y="2487168"/>
            <a:ext cx="384048" cy="365760"/>
          </a:xfrm>
          <a:prstGeom prst="rightArrow">
            <a:avLst/>
          </a:prstGeom>
          <a:solidFill>
            <a:srgbClr val="00636A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3564560" y="1737360"/>
            <a:ext cx="213809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4331856" y="1993392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802" y="2156338"/>
            <a:ext cx="277612" cy="2776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710864" y="2743200"/>
            <a:ext cx="184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Web Apps</a:t>
            </a:r>
            <a:endParaRPr lang="en-US" sz="1650" dirty="0"/>
          </a:p>
        </p:txBody>
      </p:sp>
      <p:sp>
        <p:nvSpPr>
          <p:cNvPr id="14" name="Text 10"/>
          <p:cNvSpPr txBox="1"/>
          <p:nvPr/>
        </p:nvSpPr>
        <p:spPr>
          <a:xfrm>
            <a:off x="3710864" y="3108960"/>
            <a:ext cx="184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Auslieferung und Anmeldung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903824" y="2487168"/>
            <a:ext cx="384048" cy="365760"/>
          </a:xfrm>
          <a:prstGeom prst="rightArrow">
            <a:avLst/>
          </a:prstGeom>
          <a:solidFill>
            <a:srgbClr val="00636A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Shape 12"/>
          <p:cNvSpPr/>
          <p:nvPr/>
        </p:nvSpPr>
        <p:spPr>
          <a:xfrm>
            <a:off x="6489040" y="1737360"/>
            <a:ext cx="213809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7" name="Shape 13"/>
          <p:cNvSpPr/>
          <p:nvPr/>
        </p:nvSpPr>
        <p:spPr>
          <a:xfrm>
            <a:off x="7256336" y="1993392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9282" y="2156338"/>
            <a:ext cx="277612" cy="2776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635344" y="2743200"/>
            <a:ext cx="184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Functions</a:t>
            </a:r>
            <a:endParaRPr lang="en-US" sz="1650" dirty="0"/>
          </a:p>
        </p:txBody>
      </p:sp>
      <p:sp>
        <p:nvSpPr>
          <p:cNvPr id="20" name="Text 15"/>
          <p:cNvSpPr txBox="1"/>
          <p:nvPr/>
        </p:nvSpPr>
        <p:spPr>
          <a:xfrm>
            <a:off x="6635344" y="3108960"/>
            <a:ext cx="184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8, isolierter Worker</a:t>
            </a:r>
            <a:endParaRPr lang="en-US" sz="1180" dirty="0"/>
          </a:p>
        </p:txBody>
      </p:sp>
      <p:sp>
        <p:nvSpPr>
          <p:cNvPr id="21" name="Shape 16"/>
          <p:cNvSpPr/>
          <p:nvPr/>
        </p:nvSpPr>
        <p:spPr>
          <a:xfrm>
            <a:off x="8828303" y="2487168"/>
            <a:ext cx="384048" cy="365760"/>
          </a:xfrm>
          <a:prstGeom prst="rightArrow">
            <a:avLst/>
          </a:prstGeom>
          <a:solidFill>
            <a:srgbClr val="00636A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2" name="Shape 17"/>
          <p:cNvSpPr/>
          <p:nvPr/>
        </p:nvSpPr>
        <p:spPr>
          <a:xfrm>
            <a:off x="9413519" y="1737360"/>
            <a:ext cx="213809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3" name="Shape 18"/>
          <p:cNvSpPr/>
          <p:nvPr/>
        </p:nvSpPr>
        <p:spPr>
          <a:xfrm>
            <a:off x="10180815" y="1993392"/>
            <a:ext cx="603504" cy="603504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3761" y="2156338"/>
            <a:ext cx="277612" cy="27761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559823" y="2743200"/>
            <a:ext cx="184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26" name="Text 20"/>
          <p:cNvSpPr txBox="1"/>
          <p:nvPr/>
        </p:nvSpPr>
        <p:spPr>
          <a:xfrm>
            <a:off x="9559823" y="3108960"/>
            <a:ext cx="184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Server mit EF Core</a:t>
            </a:r>
            <a:endParaRPr lang="en-US" sz="118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3913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UNTERSTÜTZENDE DIENSTE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40080" y="4233672"/>
            <a:ext cx="248785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9" name="Shape 23"/>
          <p:cNvSpPr/>
          <p:nvPr/>
        </p:nvSpPr>
        <p:spPr>
          <a:xfrm>
            <a:off x="932688" y="4480560"/>
            <a:ext cx="475488" cy="47548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070" y="4608942"/>
            <a:ext cx="218724" cy="2187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36192" y="4498848"/>
            <a:ext cx="12991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932688" y="5074920"/>
            <a:ext cx="19026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Bilder privat, Upload über kurzlebige SAS-Links</a:t>
            </a:r>
            <a:endParaRPr lang="en-US" sz="1180" dirty="0"/>
          </a:p>
        </p:txBody>
      </p:sp>
      <p:sp>
        <p:nvSpPr>
          <p:cNvPr id="33" name="Shape 26"/>
          <p:cNvSpPr/>
          <p:nvPr/>
        </p:nvSpPr>
        <p:spPr>
          <a:xfrm>
            <a:off x="3447974" y="4233672"/>
            <a:ext cx="248785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4" name="Shape 27"/>
          <p:cNvSpPr/>
          <p:nvPr/>
        </p:nvSpPr>
        <p:spPr>
          <a:xfrm>
            <a:off x="3740582" y="4480560"/>
            <a:ext cx="475488" cy="47548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8964" y="4608942"/>
            <a:ext cx="218724" cy="2187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344086" y="4498848"/>
            <a:ext cx="12991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SignalR</a:t>
            </a:r>
            <a:endParaRPr lang="en-US" sz="1450" dirty="0"/>
          </a:p>
        </p:txBody>
      </p:sp>
      <p:sp>
        <p:nvSpPr>
          <p:cNvPr id="37" name="Text 29"/>
          <p:cNvSpPr txBox="1"/>
          <p:nvPr/>
        </p:nvSpPr>
        <p:spPr>
          <a:xfrm>
            <a:off x="3740582" y="5074920"/>
            <a:ext cx="19026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 in Echtzeit, serverless betrieben</a:t>
            </a:r>
            <a:endParaRPr lang="en-US" sz="1180" dirty="0"/>
          </a:p>
        </p:txBody>
      </p:sp>
      <p:sp>
        <p:nvSpPr>
          <p:cNvPr id="38" name="Shape 30"/>
          <p:cNvSpPr/>
          <p:nvPr/>
        </p:nvSpPr>
        <p:spPr>
          <a:xfrm>
            <a:off x="6255868" y="4233672"/>
            <a:ext cx="248785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9" name="Shape 31"/>
          <p:cNvSpPr/>
          <p:nvPr/>
        </p:nvSpPr>
        <p:spPr>
          <a:xfrm>
            <a:off x="6548476" y="4480560"/>
            <a:ext cx="475488" cy="47548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6857" y="4608942"/>
            <a:ext cx="218724" cy="2187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151980" y="4498848"/>
            <a:ext cx="12991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</a:t>
            </a:r>
            <a:endParaRPr lang="en-US" sz="1450" dirty="0"/>
          </a:p>
        </p:txBody>
      </p:sp>
      <p:sp>
        <p:nvSpPr>
          <p:cNvPr id="42" name="Text 33"/>
          <p:cNvSpPr txBox="1"/>
          <p:nvPr/>
        </p:nvSpPr>
        <p:spPr>
          <a:xfrm>
            <a:off x="6548476" y="5074920"/>
            <a:ext cx="19026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Geheimnisse über verwaltete Identität</a:t>
            </a:r>
            <a:endParaRPr lang="en-US" sz="1180" dirty="0"/>
          </a:p>
        </p:txBody>
      </p:sp>
      <p:sp>
        <p:nvSpPr>
          <p:cNvPr id="43" name="Shape 34"/>
          <p:cNvSpPr/>
          <p:nvPr/>
        </p:nvSpPr>
        <p:spPr>
          <a:xfrm>
            <a:off x="9063761" y="4233672"/>
            <a:ext cx="248785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4" name="Shape 35"/>
          <p:cNvSpPr/>
          <p:nvPr/>
        </p:nvSpPr>
        <p:spPr>
          <a:xfrm>
            <a:off x="9356369" y="4480560"/>
            <a:ext cx="475488" cy="47548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84751" y="4608942"/>
            <a:ext cx="218724" cy="218724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9959873" y="4498848"/>
            <a:ext cx="12991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0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47" name="Text 37"/>
          <p:cNvSpPr txBox="1"/>
          <p:nvPr/>
        </p:nvSpPr>
        <p:spPr>
          <a:xfrm>
            <a:off x="9356369" y="5074920"/>
            <a:ext cx="19026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8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Telemetrie und Fehlerdiagnose</a:t>
            </a:r>
            <a:endParaRPr lang="en-US" sz="1180" dirty="0"/>
          </a:p>
        </p:txBody>
      </p:sp>
      <p:sp>
        <p:nvSpPr>
          <p:cNvPr id="48" name="Text 38"/>
          <p:cNvSpPr txBox="1"/>
          <p:nvPr/>
        </p:nvSpPr>
        <p:spPr>
          <a:xfrm>
            <a:off x="640080" y="587044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über Microsoft-Konto oder Google. Rollen kommen aus der Datenbank und werden bei jedem geschützten Aufruf serverseitig erneut geprüft — dem Browser wird nie vertraut.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Bereitstellung ohne Handarbeit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937760" cy="3794760"/>
          </a:xfrm>
          <a:prstGeom prst="roundRect">
            <a:avLst>
              <a:gd name="adj" fmla="val 2410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024128" y="2029968"/>
            <a:ext cx="603504" cy="603504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074" y="2192914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20848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Einmal einrichten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2788920"/>
            <a:ext cx="4206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gesamte Azure-Umgebung ist als Bicep-Vorlage beschrieben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Bootstrap-Skript legt Identität, Rechte und Repository-Werte an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mit Microsoft und Google wird per Skript eingerichtet</a:t>
            </a:r>
            <a:endParaRPr lang="en-US" sz="1350" dirty="0"/>
          </a:p>
          <a:p>
            <a:pPr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Datenbank-Migrationen laufen beim Start der API automatisch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989320" y="1737360"/>
            <a:ext cx="5568696" cy="3794760"/>
          </a:xfrm>
          <a:prstGeom prst="roundRect">
            <a:avLst>
              <a:gd name="adj" fmla="val 2410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6373368" y="2029968"/>
            <a:ext cx="603504" cy="603504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314" y="2192914"/>
            <a:ext cx="277612" cy="2776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23176" y="20848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getrennte Pipelines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6373368" y="2788920"/>
            <a:ext cx="4800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4" name="Text 10"/>
          <p:cNvSpPr txBox="1"/>
          <p:nvPr/>
        </p:nvSpPr>
        <p:spPr>
          <a:xfrm>
            <a:off x="6611112" y="27889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66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infra/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Infrastruktur — nur bei Änderungen an der Azure-Umgebung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373368" y="3639312"/>
            <a:ext cx="4800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3"/>
          <p:cNvSpPr txBox="1"/>
          <p:nvPr/>
        </p:nvSpPr>
        <p:spPr>
          <a:xfrm>
            <a:off x="6611112" y="3639312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66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api/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863840" y="36393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nur bei Änderungen an der Schnittstelle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373368" y="4489704"/>
            <a:ext cx="4800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4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Text 16"/>
          <p:cNvSpPr txBox="1"/>
          <p:nvPr/>
        </p:nvSpPr>
        <p:spPr>
          <a:xfrm>
            <a:off x="6611112" y="4489704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4660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frontend/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448970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 — nur bei Änderungen an der Anwendung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EDF3DF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3" name="Text 19"/>
          <p:cNvSpPr txBox="1"/>
          <p:nvPr/>
        </p:nvSpPr>
        <p:spPr>
          <a:xfrm>
            <a:off x="1097280" y="580644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466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 Aufteilung prüft auch jeden Pull Request — geändert wird nur, was wirklich betroffen ist.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006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SEPTEMBER 2026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zuletzt dazugekommen ist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0028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1051560" y="2029968"/>
            <a:ext cx="566928" cy="566928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631" y="2183039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2057400"/>
            <a:ext cx="369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834640"/>
            <a:ext cx="442706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Plattform heißt jetzt Dorfplatz und begrüßt mit einer Einführung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Monatskalender für Termine — die gewählte Ansicht bleibt erhalten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als ICS-Datei in den eigenen Kalender übernehmen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Impressum und Datenschutzerklärung im Footer jeder Seite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Zugänge lassen sich sperren und mit Begründung wiederherstellen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1588" y="1737360"/>
            <a:ext cx="5250028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203200" dist="38100" dir="5400000" algn="bl" rotWithShape="0">
              <a:srgbClr val="0A3B3F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6713068" y="2029968"/>
            <a:ext cx="566928" cy="566928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138" y="2183039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44588" y="2057400"/>
            <a:ext cx="3695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0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Verbessert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713068" y="2834640"/>
            <a:ext cx="442706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Vergangene Termine sind standardmäßig ausgeblendet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 von Erstellern sind für normale Mitglieder nicht sichtbar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Nachrichtenfunktion ist klarer als Absprache-Werkzeug beschrieben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Anmelde-Button ist kontrastreicher und besser lesbar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Farbwelt in Grün und Petrol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806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vollständige Liste steht in CHANGELOG.md im Projekt.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rgbClr val="5F7F2D">
              <a:alpha val="18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9875520" y="-1097280"/>
            <a:ext cx="4206240" cy="4206240"/>
          </a:xfrm>
          <a:prstGeom prst="ellipse">
            <a:avLst/>
          </a:prstGeom>
          <a:solidFill>
            <a:srgbClr val="008B93">
              <a:alpha val="20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A9D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Mitmachen ist ausdrücklich erwünscht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3338" cy="2697480"/>
          </a:xfrm>
          <a:prstGeom prst="roundRect">
            <a:avLst>
              <a:gd name="adj" fmla="val 3390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1024128" y="2084832"/>
            <a:ext cx="621792" cy="621792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12" y="2252716"/>
            <a:ext cx="286024" cy="2860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4128" y="2834640"/>
            <a:ext cx="26252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 Nachbarn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24128" y="3310128"/>
            <a:ext cx="26252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8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Anmelden, Termine einstellen, Hilfe anbieten oder annehmen. Der Dorfplatz lebt von Beiträgen, nicht von Zuschauern.</a:t>
            </a:r>
            <a:endParaRPr lang="en-US" sz="1280" dirty="0"/>
          </a:p>
        </p:txBody>
      </p:sp>
      <p:sp>
        <p:nvSpPr>
          <p:cNvPr id="11" name="Shape 8"/>
          <p:cNvSpPr/>
          <p:nvPr/>
        </p:nvSpPr>
        <p:spPr>
          <a:xfrm>
            <a:off x="4399178" y="1783080"/>
            <a:ext cx="3393338" cy="2697480"/>
          </a:xfrm>
          <a:prstGeom prst="roundRect">
            <a:avLst>
              <a:gd name="adj" fmla="val 3390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2" name="Shape 9"/>
          <p:cNvSpPr/>
          <p:nvPr/>
        </p:nvSpPr>
        <p:spPr>
          <a:xfrm>
            <a:off x="4783226" y="2084832"/>
            <a:ext cx="621792" cy="621792"/>
          </a:xfrm>
          <a:prstGeom prst="ellipse">
            <a:avLst/>
          </a:prstGeom>
          <a:solidFill>
            <a:srgbClr val="5F7F2D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1110" y="2252716"/>
            <a:ext cx="286024" cy="286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83226" y="2834640"/>
            <a:ext cx="26252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Rückmeldungen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783226" y="3310128"/>
            <a:ext cx="26252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8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fehlt, was stört, was ist unverständlich? Jede Rückmeldung aus dem Dorf ist wertvoller als jede Vermutung.</a:t>
            </a:r>
            <a:endParaRPr lang="en-US" sz="1280" dirty="0"/>
          </a:p>
        </p:txBody>
      </p:sp>
      <p:sp>
        <p:nvSpPr>
          <p:cNvPr id="16" name="Shape 12"/>
          <p:cNvSpPr/>
          <p:nvPr/>
        </p:nvSpPr>
        <p:spPr>
          <a:xfrm>
            <a:off x="8158277" y="1783080"/>
            <a:ext cx="3393338" cy="2697480"/>
          </a:xfrm>
          <a:prstGeom prst="roundRect">
            <a:avLst>
              <a:gd name="adj" fmla="val 3390"/>
            </a:avLst>
          </a:prstGeom>
          <a:solidFill>
            <a:srgbClr val="07545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7" name="Shape 13"/>
          <p:cNvSpPr/>
          <p:nvPr/>
        </p:nvSpPr>
        <p:spPr>
          <a:xfrm>
            <a:off x="8542325" y="2084832"/>
            <a:ext cx="621792" cy="621792"/>
          </a:xfrm>
          <a:prstGeom prst="ellipse">
            <a:avLst/>
          </a:prstGeom>
          <a:solidFill>
            <a:srgbClr val="008B93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209" y="2252716"/>
            <a:ext cx="286024" cy="2860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542325" y="2834640"/>
            <a:ext cx="26252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Quellcode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542325" y="3310128"/>
            <a:ext cx="26252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80" dirty="0">
                <a:solidFill>
                  <a:srgbClr val="D6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Projekt ist quelloffen. Willkommen sind Verbesserungen, Barrierefreiheit, Dokumentation und Tests.</a:t>
            </a:r>
            <a:endParaRPr lang="en-US" sz="128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48463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Dorfplatz lebt von den Menschen, die ihn nutzen.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54864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DF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bauen kein neues WhatsApp und kein neues Kleinanzeigenportal — wir bauen einen Ort für Asch.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" y="60807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A9D0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Initiiert von der Gruppe Lebenswert · github.com/nampacx/BulletinBoard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1710</Words>
  <Application>Microsoft Office PowerPoint</Application>
  <PresentationFormat>Widescreen</PresentationFormat>
  <Paragraphs>208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Dorfplatz - Der digitale Treffpunkt fuer unser Dorf</dc:title>
  <dc:subject>PptxGenJS Presentation</dc:subject>
  <dc:creator>Dorfplatz Asch</dc:creator>
  <cp:lastModifiedBy>Michael Kokonowskyj</cp:lastModifiedBy>
  <cp:revision>2</cp:revision>
  <dcterms:created xsi:type="dcterms:W3CDTF">2026-09-05T15:26:42Z</dcterms:created>
  <dcterms:modified xsi:type="dcterms:W3CDTF">2026-09-17T18:00:48Z</dcterms:modified>
</cp:coreProperties>
</file>